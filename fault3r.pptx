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59" r:id="rId9"/>
    <p:sldId id="260" r:id="rId10"/>
    <p:sldId id="267" r:id="rId11"/>
    <p:sldId id="266" r:id="rId12"/>
    <p:sldId id="268" r:id="rId13"/>
    <p:sldId id="26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A6D6"/>
    <a:srgbClr val="E03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30"/>
    <p:restoredTop sz="96489"/>
  </p:normalViewPr>
  <p:slideViewPr>
    <p:cSldViewPr snapToGrid="0">
      <p:cViewPr>
        <p:scale>
          <a:sx n="81" d="100"/>
          <a:sy n="81" d="100"/>
        </p:scale>
        <p:origin x="65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BDA87-1D0C-EB4F-9945-E8CF4B851A06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34FD2-01F4-0442-8F82-D8AAB346C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0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34FD2-01F4-0442-8F82-D8AAB346CE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4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4EFA-9EC1-1325-AD97-2855ACB3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1BA17-C53B-BA2A-E750-9A43B2C67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14EA9-B8A4-E049-48B3-1BDB81EE1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44872-2BF7-53E8-55FB-5642806CA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34FD2-01F4-0442-8F82-D8AAB346CE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500E-C300-96F7-C38E-D0F72142F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AFAC0-674C-3417-39F1-D6A9B67C2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A6043-5772-AB68-6D99-9F1255A2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63079-1169-4C26-C565-D7848431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7DD02-4DEC-7195-E0AD-456178F9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5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9901-13CF-19D7-B527-77F2A490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33EB8-7B4A-BD15-C092-11B6C7A37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49986-1EEB-F44F-B6F0-E4F8E2AE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FC3D2-B860-3082-18DE-4D1DAC2A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2BA77-411F-1B62-CE1A-A15D8782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0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7C8F-826F-7A1D-F26D-29446334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D2333-E901-11D1-74E4-81A323A5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DE83-0B63-5F05-AC1E-406611B5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C88B7-BEB9-4D0D-CD36-878CD308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0FEA1-D798-2372-E764-374967FA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CEF9-0CDC-2565-816D-29E633DF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8D27-8E77-E1C9-BE2D-4EC31D547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10EE2-15F0-592C-7111-0E4324882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49EC8-7964-4D6E-C124-B59AB28B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EF4D6-F473-DB7F-2C5D-3100EB0E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5BC3-65E7-15DD-D737-6E616C6E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8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8E1B-F53D-BEBA-CC08-702538A1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B16D0-2C26-DBBF-EFEE-B3FDCA83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D591D-8C39-AD3F-0B83-32CA33BFB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537C3-CCC8-7958-9C07-617DDB7DA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5860B-B4B5-5839-B446-75F4B41C7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F84CF-7849-ABC5-639F-87383A703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E9E69-ABD2-D7E4-E9A0-787F0C1E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62A3C-6B27-56C6-F5F2-5E9C1FF5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1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AB48-203D-650B-62C9-6564E2AB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B30C1-1B2B-5E06-436C-2B961693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3E0EE-2FA8-BC61-9AEC-131508B4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438DF-4095-C893-6338-80A6B315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1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5DF39-EC4C-E2D0-1B41-4BF44EFA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928D9-E044-D5E8-0EE1-B02C30EA2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F5082-B6F0-BC85-E02B-531653F4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9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0693-C9BF-15AA-4D1F-7C9F734A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E20B-716F-2BD7-F08D-CC794E4D1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7A4B0-1CB9-E6A2-45D6-0BE561E31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787C3-79E8-E765-F317-92F83528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F9069-5BDF-136E-3167-93B87209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3896F-B245-F1A7-83AA-917DE79D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8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4E18-AE00-6F03-12AB-91DEA017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96AB-E9B5-83F3-4F8F-15A36797C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CC340-BB81-1F0F-99CC-053EFEF73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11BA6-7E69-A4A4-E850-9E476718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8C162-7D36-FD94-FF24-EE3FBA89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9FEA5-73AC-81D7-8148-07B5F3975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7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FEF6-A1BD-C0F2-B06E-AB767948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D8253-AA4D-41FB-9218-F94ED6434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ADA3-2E80-E959-D22A-94CCB54D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AF2A-33C0-E3FA-888F-6631B90C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14F24-CE17-827E-2C01-03DBDA4C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8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C6A87-FC4D-EAB4-3655-26B913C10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26C51-8124-FF78-FE5F-A0D96B7C6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2B218-F653-8BF4-BCD5-22442AA6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E8B46-5635-537F-80F2-D0C24DC1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2FD2E-0F37-DFC9-0216-D87FBDC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5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685A5-9361-E0F8-4619-0CE76F33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E885-E65C-64D1-35D6-4B559439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450E0-0B2A-E3E2-E69E-B8B4BF157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CD6E9-BBD9-954C-91C2-A5274CEFC828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8A92-2BFC-55C8-9873-10D7A71A0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D4C79-19FD-FE9B-1D36-16B8ED793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0D188-C617-EB4E-BEE6-4D3EBC6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6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C6FE-8FD9-B647-465D-C30750D7B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Fault3r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E7628-D04E-0597-1CD8-79818BAE1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Honours Programme Delft</a:t>
            </a:r>
            <a:endParaRPr lang="en-US" dirty="0"/>
          </a:p>
        </p:txBody>
      </p:sp>
      <p:pic>
        <p:nvPicPr>
          <p:cNvPr id="5" name="Picture 4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F28E7CC7-8C29-8E14-04FA-39AEA95C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61" y="4429919"/>
            <a:ext cx="2058277" cy="12349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545307-A6A6-0106-E7E8-C1FA0F929E19}"/>
              </a:ext>
            </a:extLst>
          </p:cNvPr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1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D32D-AD7E-B831-AC65-2B16201C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&amp;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236EE-534E-FF81-79C4-B4F76E183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The Core</a:t>
            </a:r>
          </a:p>
          <a:p>
            <a:pPr lvl="1"/>
            <a:r>
              <a:rPr lang="en-US" dirty="0"/>
              <a:t>AES &amp; It’s DFA Attack</a:t>
            </a:r>
          </a:p>
          <a:p>
            <a:r>
              <a:rPr lang="en-US" dirty="0"/>
              <a:t>Fault3r</a:t>
            </a:r>
          </a:p>
          <a:p>
            <a:r>
              <a:rPr lang="en-US" dirty="0"/>
              <a:t>Evaluation</a:t>
            </a:r>
          </a:p>
          <a:p>
            <a:pPr lvl="1"/>
            <a:r>
              <a:rPr lang="en-US" dirty="0"/>
              <a:t>Simple Adder</a:t>
            </a:r>
          </a:p>
          <a:p>
            <a:pPr lvl="1"/>
            <a:r>
              <a:rPr lang="en-US" dirty="0"/>
              <a:t>Breaking AES</a:t>
            </a:r>
          </a:p>
          <a:p>
            <a:pPr lvl="1"/>
            <a:r>
              <a:rPr lang="en-US" dirty="0"/>
              <a:t>jump and link based faults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9470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AD1C-8125-BB65-2858-31A7C3B2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0908-569D-CF2B-EE52-8ECE3AFA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– The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4E3FDA-EE06-CCA1-3D10-EE430CF79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63821"/>
            <a:ext cx="5741579" cy="35439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FC8DFF-5329-EA4F-B508-84BA72942B5C}"/>
              </a:ext>
            </a:extLst>
          </p:cNvPr>
          <p:cNvSpPr txBox="1"/>
          <p:nvPr/>
        </p:nvSpPr>
        <p:spPr>
          <a:xfrm>
            <a:off x="7494730" y="2720115"/>
            <a:ext cx="38590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Production Quality Core</a:t>
            </a:r>
          </a:p>
          <a:p>
            <a:r>
              <a:rPr lang="en-US" dirty="0"/>
              <a:t>RV32IMC 2 Stage pipeline (IF + ID/EX)</a:t>
            </a:r>
          </a:p>
          <a:p>
            <a:r>
              <a:rPr lang="en-US" dirty="0"/>
              <a:t>Optional features disabled</a:t>
            </a:r>
          </a:p>
          <a:p>
            <a:endParaRPr lang="en-US" dirty="0"/>
          </a:p>
          <a:p>
            <a:r>
              <a:rPr lang="en-US" dirty="0"/>
              <a:t>Well documented</a:t>
            </a:r>
          </a:p>
          <a:p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Simple SoC available</a:t>
            </a:r>
          </a:p>
        </p:txBody>
      </p:sp>
    </p:spTree>
    <p:extLst>
      <p:ext uri="{BB962C8B-B14F-4D97-AF65-F5344CB8AC3E}">
        <p14:creationId xmlns:p14="http://schemas.microsoft.com/office/powerpoint/2010/main" val="389370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D402-296A-A21C-7ED6-1615EAEA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A4E5-F200-C6C8-473D-D775FC72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The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5AC11-F81F-845E-358D-0A7C50F1E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2570" y="2341165"/>
            <a:ext cx="3524852" cy="2175669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FDA00A7-A431-A3CB-A3A4-7CDF0A8C4CC2}"/>
              </a:ext>
            </a:extLst>
          </p:cNvPr>
          <p:cNvSpPr/>
          <p:nvPr/>
        </p:nvSpPr>
        <p:spPr>
          <a:xfrm>
            <a:off x="1857994" y="2341165"/>
            <a:ext cx="1213339" cy="2175669"/>
          </a:xfrm>
          <a:prstGeom prst="roundRect">
            <a:avLst/>
          </a:prstGeom>
          <a:solidFill>
            <a:srgbClr val="E038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EA541-0CE3-D424-0157-81D4B51F52DD}"/>
              </a:ext>
            </a:extLst>
          </p:cNvPr>
          <p:cNvSpPr txBox="1"/>
          <p:nvPr/>
        </p:nvSpPr>
        <p:spPr>
          <a:xfrm>
            <a:off x="3696270" y="3105833"/>
            <a:ext cx="2401362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equest / grant / valid protocol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00E379-F85D-AE47-52C9-FAF7ABF64C71}"/>
              </a:ext>
            </a:extLst>
          </p:cNvPr>
          <p:cNvCxnSpPr/>
          <p:nvPr/>
        </p:nvCxnSpPr>
        <p:spPr>
          <a:xfrm>
            <a:off x="3071332" y="3105833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1772A5-4AD7-A3DC-4886-52F5DFE90DCD}"/>
              </a:ext>
            </a:extLst>
          </p:cNvPr>
          <p:cNvCxnSpPr/>
          <p:nvPr/>
        </p:nvCxnSpPr>
        <p:spPr>
          <a:xfrm>
            <a:off x="3071332" y="3427021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78909B-098B-C0AB-2491-FD422CCA05AF}"/>
              </a:ext>
            </a:extLst>
          </p:cNvPr>
          <p:cNvCxnSpPr/>
          <p:nvPr/>
        </p:nvCxnSpPr>
        <p:spPr>
          <a:xfrm>
            <a:off x="3071332" y="372445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3DC9A-0E58-424F-8F7A-C2B8E1876B0B}"/>
              </a:ext>
            </a:extLst>
          </p:cNvPr>
          <p:cNvCxnSpPr/>
          <p:nvPr/>
        </p:nvCxnSpPr>
        <p:spPr>
          <a:xfrm>
            <a:off x="6097632" y="3105833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6DE25F-0E63-E0D6-9733-24F58D79D227}"/>
              </a:ext>
            </a:extLst>
          </p:cNvPr>
          <p:cNvCxnSpPr/>
          <p:nvPr/>
        </p:nvCxnSpPr>
        <p:spPr>
          <a:xfrm>
            <a:off x="6097632" y="3427021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AF4860-00B3-8D40-8D61-515036EC5B09}"/>
              </a:ext>
            </a:extLst>
          </p:cNvPr>
          <p:cNvCxnSpPr/>
          <p:nvPr/>
        </p:nvCxnSpPr>
        <p:spPr>
          <a:xfrm>
            <a:off x="6097632" y="372445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0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D9B2-A1AD-9DDB-9CCC-32E57AB9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E94A-4EEC-DF56-D82B-9323E959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The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F857E-8AB3-8C4B-A40C-0A104D69E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2570" y="2341165"/>
            <a:ext cx="3524852" cy="2175669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84C5ED-F5EC-09EF-1801-9F2F681F29A7}"/>
              </a:ext>
            </a:extLst>
          </p:cNvPr>
          <p:cNvSpPr/>
          <p:nvPr/>
        </p:nvSpPr>
        <p:spPr>
          <a:xfrm>
            <a:off x="1857994" y="2341165"/>
            <a:ext cx="1213339" cy="2175669"/>
          </a:xfrm>
          <a:prstGeom prst="roundRect">
            <a:avLst/>
          </a:prstGeom>
          <a:solidFill>
            <a:srgbClr val="E038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F94D9-EA7B-6915-64B9-34B8A2F150D6}"/>
              </a:ext>
            </a:extLst>
          </p:cNvPr>
          <p:cNvSpPr txBox="1"/>
          <p:nvPr/>
        </p:nvSpPr>
        <p:spPr>
          <a:xfrm>
            <a:off x="3696270" y="3105833"/>
            <a:ext cx="2401362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equest / grant / valid protocol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985FF1-5BE5-17FC-73DD-CFA89ED30B99}"/>
              </a:ext>
            </a:extLst>
          </p:cNvPr>
          <p:cNvCxnSpPr/>
          <p:nvPr/>
        </p:nvCxnSpPr>
        <p:spPr>
          <a:xfrm>
            <a:off x="3071332" y="3105833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63A47F-0916-FBBB-BABB-6F6C875A640C}"/>
              </a:ext>
            </a:extLst>
          </p:cNvPr>
          <p:cNvCxnSpPr/>
          <p:nvPr/>
        </p:nvCxnSpPr>
        <p:spPr>
          <a:xfrm>
            <a:off x="3071332" y="3427021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62EAF-4A2D-DDE2-6736-CEA77B8B4631}"/>
              </a:ext>
            </a:extLst>
          </p:cNvPr>
          <p:cNvCxnSpPr/>
          <p:nvPr/>
        </p:nvCxnSpPr>
        <p:spPr>
          <a:xfrm>
            <a:off x="3071332" y="372445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71AD2B-1932-FED8-F07C-79A9DBAFAC84}"/>
              </a:ext>
            </a:extLst>
          </p:cNvPr>
          <p:cNvCxnSpPr/>
          <p:nvPr/>
        </p:nvCxnSpPr>
        <p:spPr>
          <a:xfrm>
            <a:off x="6097632" y="3105833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66DA05-1B43-5CD1-235A-9F66E730AAAB}"/>
              </a:ext>
            </a:extLst>
          </p:cNvPr>
          <p:cNvCxnSpPr/>
          <p:nvPr/>
        </p:nvCxnSpPr>
        <p:spPr>
          <a:xfrm>
            <a:off x="6097632" y="3427021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443BE6-E9B7-1573-1ABA-A44CCB0762F3}"/>
              </a:ext>
            </a:extLst>
          </p:cNvPr>
          <p:cNvCxnSpPr/>
          <p:nvPr/>
        </p:nvCxnSpPr>
        <p:spPr>
          <a:xfrm>
            <a:off x="6097632" y="372445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Lightning bolt outline">
            <a:extLst>
              <a:ext uri="{FF2B5EF4-FFF2-40B4-BE49-F238E27FC236}">
                <a16:creationId xmlns:a16="http://schemas.microsoft.com/office/drawing/2014/main" id="{4092A111-4159-CCE8-4E4E-074792FBA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5031" y="224586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46DC2F-D05F-8D78-BBA8-6A5F850504E5}"/>
              </a:ext>
            </a:extLst>
          </p:cNvPr>
          <p:cNvSpPr txBox="1"/>
          <p:nvPr/>
        </p:nvSpPr>
        <p:spPr>
          <a:xfrm>
            <a:off x="2782817" y="5019349"/>
            <a:ext cx="6696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instr_rdata_i</a:t>
            </a:r>
            <a:r>
              <a:rPr lang="en-US" dirty="0"/>
              <a:t> injection point, instruction word returned to the core</a:t>
            </a:r>
          </a:p>
        </p:txBody>
      </p:sp>
    </p:spTree>
    <p:extLst>
      <p:ext uri="{BB962C8B-B14F-4D97-AF65-F5344CB8AC3E}">
        <p14:creationId xmlns:p14="http://schemas.microsoft.com/office/powerpoint/2010/main" val="426747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1B28-BD4A-DDF3-A673-E98FC4DB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F733-5D48-08AC-5F28-47A961B2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AES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32603D-ADBC-4475-E6E2-E4A6C9C90640}"/>
              </a:ext>
            </a:extLst>
          </p:cNvPr>
          <p:cNvSpPr/>
          <p:nvPr/>
        </p:nvSpPr>
        <p:spPr>
          <a:xfrm>
            <a:off x="1536975" y="1690688"/>
            <a:ext cx="5818909" cy="938151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SubBytes</a:t>
            </a:r>
            <a:r>
              <a:rPr lang="en-US" dirty="0">
                <a:solidFill>
                  <a:sysClr val="windowText" lastClr="000000"/>
                </a:solidFill>
              </a:rPr>
              <a:t>: Byte substitution through an S-Box lookup table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FABCE0-1DD4-FD79-59F9-B9936F2E68E4}"/>
              </a:ext>
            </a:extLst>
          </p:cNvPr>
          <p:cNvSpPr/>
          <p:nvPr/>
        </p:nvSpPr>
        <p:spPr>
          <a:xfrm>
            <a:off x="1536975" y="5286499"/>
            <a:ext cx="5818909" cy="938151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AddRoundKey</a:t>
            </a:r>
            <a:r>
              <a:rPr lang="en-US" dirty="0">
                <a:solidFill>
                  <a:sysClr val="windowText" lastClr="000000"/>
                </a:solidFill>
              </a:rPr>
              <a:t>: XOR with the round key derived from the original key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AB45BF-A46C-4308-997F-0861F25A1CFE}"/>
              </a:ext>
            </a:extLst>
          </p:cNvPr>
          <p:cNvSpPr/>
          <p:nvPr/>
        </p:nvSpPr>
        <p:spPr>
          <a:xfrm>
            <a:off x="1536975" y="2889292"/>
            <a:ext cx="5818909" cy="938151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ShiftRows</a:t>
            </a:r>
            <a:r>
              <a:rPr lang="en-US" dirty="0">
                <a:solidFill>
                  <a:sysClr val="windowText" lastClr="000000"/>
                </a:solidFill>
              </a:rPr>
              <a:t>: cyclic row rotation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335C0B-6F45-55BE-F568-F068226D7EAB}"/>
              </a:ext>
            </a:extLst>
          </p:cNvPr>
          <p:cNvSpPr/>
          <p:nvPr/>
        </p:nvSpPr>
        <p:spPr>
          <a:xfrm>
            <a:off x="1536975" y="4087896"/>
            <a:ext cx="5818909" cy="938151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MixColumns</a:t>
            </a:r>
            <a:r>
              <a:rPr lang="en-US" dirty="0">
                <a:solidFill>
                  <a:sysClr val="windowText" lastClr="000000"/>
                </a:solidFill>
              </a:rPr>
              <a:t>: GF(2^8) column mixing, omitted in the last round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8B660D14-861A-DC47-C0BF-CFDFA4E7DF96}"/>
              </a:ext>
            </a:extLst>
          </p:cNvPr>
          <p:cNvCxnSpPr>
            <a:stCxn id="3" idx="3"/>
            <a:endCxn id="5" idx="3"/>
          </p:cNvCxnSpPr>
          <p:nvPr/>
        </p:nvCxnSpPr>
        <p:spPr>
          <a:xfrm>
            <a:off x="7355884" y="2159764"/>
            <a:ext cx="12700" cy="119860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F4D2C64-E880-7E41-6025-E014FE6F889C}"/>
              </a:ext>
            </a:extLst>
          </p:cNvPr>
          <p:cNvCxnSpPr>
            <a:stCxn id="5" idx="3"/>
            <a:endCxn id="6" idx="3"/>
          </p:cNvCxnSpPr>
          <p:nvPr/>
        </p:nvCxnSpPr>
        <p:spPr>
          <a:xfrm>
            <a:off x="7355884" y="3358368"/>
            <a:ext cx="12700" cy="119860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F7309F9C-11AE-44F2-CF46-DB8875161052}"/>
              </a:ext>
            </a:extLst>
          </p:cNvPr>
          <p:cNvCxnSpPr>
            <a:stCxn id="6" idx="3"/>
            <a:endCxn id="4" idx="3"/>
          </p:cNvCxnSpPr>
          <p:nvPr/>
        </p:nvCxnSpPr>
        <p:spPr>
          <a:xfrm>
            <a:off x="7355884" y="4556972"/>
            <a:ext cx="12700" cy="119860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214378E-74CB-F709-C6E7-3DFED776E665}"/>
              </a:ext>
            </a:extLst>
          </p:cNvPr>
          <p:cNvCxnSpPr>
            <a:stCxn id="4" idx="1"/>
            <a:endCxn id="3" idx="1"/>
          </p:cNvCxnSpPr>
          <p:nvPr/>
        </p:nvCxnSpPr>
        <p:spPr>
          <a:xfrm rot="10800000">
            <a:off x="1536975" y="2159765"/>
            <a:ext cx="12700" cy="3595811"/>
          </a:xfrm>
          <a:prstGeom prst="curvedConnector3">
            <a:avLst>
              <a:gd name="adj1" fmla="val 45116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EB7FAE-348D-E5AD-C6D7-58AC27ECE510}"/>
                  </a:ext>
                </a:extLst>
              </p:cNvPr>
              <p:cNvSpPr txBox="1"/>
              <p:nvPr/>
            </p:nvSpPr>
            <p:spPr>
              <a:xfrm>
                <a:off x="8193974" y="3349461"/>
                <a:ext cx="3159826" cy="1051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EB7FAE-348D-E5AD-C6D7-58AC27ECE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74" y="3349461"/>
                <a:ext cx="3159826" cy="1051826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9D7C7DD-2441-B96A-C545-EBA713240851}"/>
              </a:ext>
            </a:extLst>
          </p:cNvPr>
          <p:cNvSpPr txBox="1"/>
          <p:nvPr/>
        </p:nvSpPr>
        <p:spPr>
          <a:xfrm>
            <a:off x="8892748" y="4656715"/>
            <a:ext cx="176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4x4 State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BCE244-1518-33CC-7689-E1F1419F97BA}"/>
              </a:ext>
            </a:extLst>
          </p:cNvPr>
          <p:cNvSpPr txBox="1"/>
          <p:nvPr/>
        </p:nvSpPr>
        <p:spPr>
          <a:xfrm rot="16200000">
            <a:off x="-680453" y="3690708"/>
            <a:ext cx="266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Repeated </a:t>
            </a:r>
            <a:r>
              <a:rPr lang="en-US" b="1" dirty="0"/>
              <a:t>10x</a:t>
            </a:r>
            <a:r>
              <a:rPr lang="en-US" dirty="0"/>
              <a:t> for AES128</a:t>
            </a:r>
          </a:p>
        </p:txBody>
      </p:sp>
    </p:spTree>
    <p:extLst>
      <p:ext uri="{BB962C8B-B14F-4D97-AF65-F5344CB8AC3E}">
        <p14:creationId xmlns:p14="http://schemas.microsoft.com/office/powerpoint/2010/main" val="92293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75EA-A335-B111-ADED-8B77E9C4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FCDB-E273-4ACD-8E9D-24740C3F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– AES DFA Attack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8A3F63-42B4-6DE8-1A33-9E4E7C406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Inject a single-byte </a:t>
            </a:r>
            <a:r>
              <a:rPr lang="en-US" sz="2400" dirty="0"/>
              <a:t>fault at the input of the ninth </a:t>
            </a:r>
            <a:r>
              <a:rPr lang="en-US" sz="2400" dirty="0" err="1"/>
              <a:t>MixColumns</a:t>
            </a: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b="1" dirty="0" err="1"/>
              <a:t>MixColumns</a:t>
            </a:r>
            <a:r>
              <a:rPr lang="en-US" sz="2400" b="1" dirty="0"/>
              <a:t> spreads it </a:t>
            </a:r>
            <a:r>
              <a:rPr lang="en-US" sz="2400" dirty="0"/>
              <a:t>across exactly 4 bytes of the state - and into 4 known ciphertext positions</a:t>
            </a:r>
          </a:p>
          <a:p>
            <a:pPr marL="514350" indent="-514350">
              <a:buAutoNum type="arabicPeriod"/>
            </a:pPr>
            <a:r>
              <a:rPr lang="en-US" sz="2400" b="1" dirty="0"/>
              <a:t>For each of those 4 positions</a:t>
            </a:r>
            <a:r>
              <a:rPr lang="en-US" sz="2400" dirty="0"/>
              <a:t>, sweep all 256 candidates for the round-10 key byte and keep only those consistent with both the faulted and reference ciphertext</a:t>
            </a:r>
          </a:p>
          <a:p>
            <a:pPr marL="514350" indent="-514350">
              <a:buAutoNum type="arabicPeriod"/>
            </a:pPr>
            <a:r>
              <a:rPr lang="en-US" sz="2400" b="1" dirty="0"/>
              <a:t>Fault the same column 4 times </a:t>
            </a:r>
            <a:r>
              <a:rPr lang="en-US" sz="2400" dirty="0"/>
              <a:t>and intersect the candidate sets - this narrows each key byte down to one value</a:t>
            </a:r>
          </a:p>
          <a:p>
            <a:pPr marL="514350" indent="-514350">
              <a:buAutoNum type="arabicPeriod"/>
            </a:pPr>
            <a:r>
              <a:rPr lang="en-US" sz="2400" b="1" dirty="0"/>
              <a:t>Repeat across all 4 columns </a:t>
            </a:r>
            <a:r>
              <a:rPr lang="en-US" sz="2400" dirty="0"/>
              <a:t>to recover the full round-10 key k₁₀</a:t>
            </a:r>
          </a:p>
          <a:p>
            <a:pPr marL="514350" indent="-514350">
              <a:buAutoNum type="arabicPeriod"/>
            </a:pPr>
            <a:r>
              <a:rPr lang="en-US" sz="2400" b="1" dirty="0"/>
              <a:t>Run the key schedule in reverse </a:t>
            </a:r>
            <a:r>
              <a:rPr lang="en-US" sz="2400" dirty="0"/>
              <a:t>to obtain the original key k</a:t>
            </a:r>
          </a:p>
        </p:txBody>
      </p:sp>
    </p:spTree>
    <p:extLst>
      <p:ext uri="{BB962C8B-B14F-4D97-AF65-F5344CB8AC3E}">
        <p14:creationId xmlns:p14="http://schemas.microsoft.com/office/powerpoint/2010/main" val="95741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0ECD-A67B-AB1A-5D2F-A96B6D25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ADE0-DEE1-A0FF-5E4F-C3AD8350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Fault3r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0F6491AF-E425-EB41-7C43-2A8633C12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2570" y="1830527"/>
            <a:ext cx="3524852" cy="2175669"/>
          </a:xfr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C61511-92D5-E957-EB19-5BB8608FF4FB}"/>
              </a:ext>
            </a:extLst>
          </p:cNvPr>
          <p:cNvSpPr/>
          <p:nvPr/>
        </p:nvSpPr>
        <p:spPr>
          <a:xfrm>
            <a:off x="1857994" y="1830527"/>
            <a:ext cx="1213339" cy="2175669"/>
          </a:xfrm>
          <a:prstGeom prst="roundRect">
            <a:avLst/>
          </a:prstGeom>
          <a:solidFill>
            <a:srgbClr val="E038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Memory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46EBD-7D50-884D-C7C7-49C01B23B520}"/>
              </a:ext>
            </a:extLst>
          </p:cNvPr>
          <p:cNvCxnSpPr/>
          <p:nvPr/>
        </p:nvCxnSpPr>
        <p:spPr>
          <a:xfrm>
            <a:off x="3071332" y="2595195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C4DC68-C57F-CE93-E21A-C42AEC9FFF26}"/>
              </a:ext>
            </a:extLst>
          </p:cNvPr>
          <p:cNvCxnSpPr/>
          <p:nvPr/>
        </p:nvCxnSpPr>
        <p:spPr>
          <a:xfrm>
            <a:off x="3071332" y="291638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0AD6DC-6BE6-F0D6-6BFB-4BBFF8123930}"/>
              </a:ext>
            </a:extLst>
          </p:cNvPr>
          <p:cNvCxnSpPr/>
          <p:nvPr/>
        </p:nvCxnSpPr>
        <p:spPr>
          <a:xfrm>
            <a:off x="3071332" y="3213815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7EEA9E-2BC7-52FB-426B-E5B7C890D907}"/>
              </a:ext>
            </a:extLst>
          </p:cNvPr>
          <p:cNvCxnSpPr/>
          <p:nvPr/>
        </p:nvCxnSpPr>
        <p:spPr>
          <a:xfrm>
            <a:off x="6097632" y="2595195"/>
            <a:ext cx="62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F7BA67-E584-6E7E-57C4-D7FA7A4EB063}"/>
              </a:ext>
            </a:extLst>
          </p:cNvPr>
          <p:cNvCxnSpPr/>
          <p:nvPr/>
        </p:nvCxnSpPr>
        <p:spPr>
          <a:xfrm>
            <a:off x="6097632" y="2916383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37F7A3-79A3-4FA9-82F9-8B61B96773C1}"/>
              </a:ext>
            </a:extLst>
          </p:cNvPr>
          <p:cNvCxnSpPr/>
          <p:nvPr/>
        </p:nvCxnSpPr>
        <p:spPr>
          <a:xfrm>
            <a:off x="6097632" y="3213815"/>
            <a:ext cx="6249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564608-AEE1-5D9B-33EF-D2EEB503B724}"/>
              </a:ext>
            </a:extLst>
          </p:cNvPr>
          <p:cNvSpPr/>
          <p:nvPr/>
        </p:nvSpPr>
        <p:spPr>
          <a:xfrm>
            <a:off x="3696269" y="2280063"/>
            <a:ext cx="2399731" cy="1270660"/>
          </a:xfrm>
          <a:prstGeom prst="roundRect">
            <a:avLst/>
          </a:prstGeom>
          <a:solidFill>
            <a:srgbClr val="04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FAULT3R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8A13FD-484D-E263-1624-D8C55F7C6211}"/>
              </a:ext>
            </a:extLst>
          </p:cNvPr>
          <p:cNvSpPr txBox="1"/>
          <p:nvPr/>
        </p:nvSpPr>
        <p:spPr>
          <a:xfrm>
            <a:off x="5382375" y="1615844"/>
            <a:ext cx="1427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instr_addr_o</a:t>
            </a:r>
            <a:endParaRPr lang="en-US" i="1" dirty="0"/>
          </a:p>
          <a:p>
            <a:r>
              <a:rPr lang="en-US" i="1" dirty="0" err="1"/>
              <a:t>instr_gnt_i</a:t>
            </a:r>
            <a:endParaRPr lang="en-US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C0710-6E93-2CA6-EE03-8A80EC1C0780}"/>
              </a:ext>
            </a:extLst>
          </p:cNvPr>
          <p:cNvSpPr txBox="1"/>
          <p:nvPr/>
        </p:nvSpPr>
        <p:spPr>
          <a:xfrm>
            <a:off x="3071332" y="1888956"/>
            <a:ext cx="140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instr_rdata_i</a:t>
            </a:r>
            <a:endParaRPr lang="en-U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286D8-A3DC-9954-82BB-8A74D56D5F2F}"/>
              </a:ext>
            </a:extLst>
          </p:cNvPr>
          <p:cNvSpPr txBox="1"/>
          <p:nvPr/>
        </p:nvSpPr>
        <p:spPr>
          <a:xfrm>
            <a:off x="2464663" y="4814939"/>
            <a:ext cx="66824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FAULT</a:t>
            </a:r>
            <a:r>
              <a:rPr lang="en-US" dirty="0"/>
              <a:t>: master enable, transparent passthrough when </a:t>
            </a:r>
            <a:r>
              <a:rPr lang="en-US" dirty="0" err="1"/>
              <a:t>deasserted</a:t>
            </a:r>
            <a:endParaRPr lang="en-US" dirty="0"/>
          </a:p>
          <a:p>
            <a:r>
              <a:rPr lang="en-US" b="1" dirty="0"/>
              <a:t>FAULT_ADDR</a:t>
            </a:r>
            <a:r>
              <a:rPr lang="en-US" dirty="0"/>
              <a:t>: target instruction address to intercept</a:t>
            </a:r>
          </a:p>
          <a:p>
            <a:r>
              <a:rPr lang="en-US" b="1" dirty="0"/>
              <a:t>FAULT_INSTR</a:t>
            </a:r>
            <a:r>
              <a:rPr lang="en-US" dirty="0"/>
              <a:t>: replacement instruction word</a:t>
            </a:r>
          </a:p>
          <a:p>
            <a:r>
              <a:rPr lang="en-US" b="1" dirty="0"/>
              <a:t>FAULT_ADDR_CNT</a:t>
            </a:r>
            <a:r>
              <a:rPr lang="en-US" dirty="0"/>
              <a:t>: visit count before fault becomes active</a:t>
            </a:r>
          </a:p>
          <a:p>
            <a:r>
              <a:rPr lang="en-US" b="1" dirty="0"/>
              <a:t>FAULT_REPEAT</a:t>
            </a:r>
            <a:r>
              <a:rPr lang="en-US" dirty="0"/>
              <a:t>: repeat fault on every subsequent visit if asserted</a:t>
            </a:r>
          </a:p>
        </p:txBody>
      </p:sp>
    </p:spTree>
    <p:extLst>
      <p:ext uri="{BB962C8B-B14F-4D97-AF65-F5344CB8AC3E}">
        <p14:creationId xmlns:p14="http://schemas.microsoft.com/office/powerpoint/2010/main" val="1880529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5753-6D90-2F39-699D-BF9504C7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1C55-5E04-FF16-90EC-8E181A39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Simple Adder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B1D99C-4C82-15D7-330E-DD159C392B57}"/>
              </a:ext>
            </a:extLst>
          </p:cNvPr>
          <p:cNvSpPr/>
          <p:nvPr/>
        </p:nvSpPr>
        <p:spPr>
          <a:xfrm>
            <a:off x="838200" y="2035072"/>
            <a:ext cx="4410694" cy="2014413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int main(int </a:t>
            </a:r>
            <a:r>
              <a:rPr lang="en-US" dirty="0" err="1"/>
              <a:t>argc</a:t>
            </a:r>
            <a:r>
              <a:rPr lang="en-US" dirty="0"/>
              <a:t>, char *</a:t>
            </a:r>
            <a:r>
              <a:rPr lang="en-US" dirty="0" err="1"/>
              <a:t>argv</a:t>
            </a:r>
            <a:r>
              <a:rPr lang="en-US" dirty="0"/>
              <a:t>[]) {</a:t>
            </a:r>
          </a:p>
          <a:p>
            <a:r>
              <a:rPr lang="en-US" dirty="0"/>
              <a:t>    int a = 4;</a:t>
            </a:r>
          </a:p>
          <a:p>
            <a:r>
              <a:rPr lang="en-US" dirty="0"/>
              <a:t>    int b = 7;</a:t>
            </a:r>
          </a:p>
          <a:p>
            <a:r>
              <a:rPr lang="en-US" dirty="0"/>
              <a:t>    int c = a + b;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19FF2D-DE7D-9D9C-0BBE-44DCEE6A2604}"/>
              </a:ext>
            </a:extLst>
          </p:cNvPr>
          <p:cNvSpPr/>
          <p:nvPr/>
        </p:nvSpPr>
        <p:spPr>
          <a:xfrm>
            <a:off x="838200" y="4696242"/>
            <a:ext cx="4410694" cy="1143855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212c:	00400793          li a5,4</a:t>
            </a:r>
          </a:p>
          <a:p>
            <a:r>
              <a:rPr lang="en-US" dirty="0"/>
              <a:t>2130:	fef42623            </a:t>
            </a:r>
            <a:r>
              <a:rPr lang="en-US" dirty="0" err="1"/>
              <a:t>sw</a:t>
            </a:r>
            <a:r>
              <a:rPr lang="en-US" dirty="0"/>
              <a:t> a5,-20(s0)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54B1A-ABF2-BCB6-33D8-992441284E84}"/>
              </a:ext>
            </a:extLst>
          </p:cNvPr>
          <p:cNvSpPr txBox="1"/>
          <p:nvPr/>
        </p:nvSpPr>
        <p:spPr>
          <a:xfrm>
            <a:off x="838200" y="1665740"/>
            <a:ext cx="113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 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03B1E-AC84-D951-F65D-E4D71133CB8B}"/>
              </a:ext>
            </a:extLst>
          </p:cNvPr>
          <p:cNvSpPr txBox="1"/>
          <p:nvPr/>
        </p:nvSpPr>
        <p:spPr>
          <a:xfrm>
            <a:off x="838200" y="432691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Compiled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09A2F-2EFE-B9E6-FF96-44422542090B}"/>
              </a:ext>
            </a:extLst>
          </p:cNvPr>
          <p:cNvSpPr txBox="1"/>
          <p:nvPr/>
        </p:nvSpPr>
        <p:spPr>
          <a:xfrm>
            <a:off x="7120117" y="2165115"/>
            <a:ext cx="2971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Fault3r Configuration: </a:t>
            </a:r>
          </a:p>
          <a:p>
            <a:r>
              <a:rPr lang="en-US" dirty="0"/>
              <a:t>FAULT: 1’b1</a:t>
            </a:r>
          </a:p>
          <a:p>
            <a:r>
              <a:rPr lang="en-US" dirty="0"/>
              <a:t>FAULT_ADDR: 0x0000212c</a:t>
            </a:r>
          </a:p>
          <a:p>
            <a:r>
              <a:rPr lang="en-US" dirty="0"/>
              <a:t>FAULT_INSTR: 0x00100793</a:t>
            </a:r>
          </a:p>
          <a:p>
            <a:r>
              <a:rPr lang="en-US" dirty="0"/>
              <a:t>FAULT_ADDR_CNT: 8’d0</a:t>
            </a:r>
          </a:p>
          <a:p>
            <a:r>
              <a:rPr lang="en-US" dirty="0"/>
              <a:t>FAULT_REPEAT: 1’b0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12D3C-3DD7-D405-5077-9DB290153506}"/>
              </a:ext>
            </a:extLst>
          </p:cNvPr>
          <p:cNvCxnSpPr/>
          <p:nvPr/>
        </p:nvCxnSpPr>
        <p:spPr>
          <a:xfrm>
            <a:off x="6096000" y="1778107"/>
            <a:ext cx="0" cy="4199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4CB49C-E7A2-7752-4DC1-EA0523D19432}"/>
              </a:ext>
            </a:extLst>
          </p:cNvPr>
          <p:cNvSpPr/>
          <p:nvPr/>
        </p:nvSpPr>
        <p:spPr>
          <a:xfrm>
            <a:off x="7120117" y="4696242"/>
            <a:ext cx="4410694" cy="1143855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212c:	00100793          li a5,1</a:t>
            </a:r>
          </a:p>
          <a:p>
            <a:r>
              <a:rPr lang="en-US" dirty="0"/>
              <a:t>2130:	fef42623            </a:t>
            </a:r>
            <a:r>
              <a:rPr lang="en-US" dirty="0" err="1"/>
              <a:t>sw</a:t>
            </a:r>
            <a:r>
              <a:rPr lang="en-US" dirty="0"/>
              <a:t> a5,-20(s0)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2FF77-FE5A-1040-A8F9-EE96C3D311CA}"/>
              </a:ext>
            </a:extLst>
          </p:cNvPr>
          <p:cNvSpPr txBox="1"/>
          <p:nvPr/>
        </p:nvSpPr>
        <p:spPr>
          <a:xfrm>
            <a:off x="7120117" y="4326910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97074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F352-7762-1EDC-C388-C197897A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60E4-E0B8-3CE5-479C-1605DFBA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Breaking AES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A8F0E6-9EBD-CB49-FB36-270C825FBB9E}"/>
              </a:ext>
            </a:extLst>
          </p:cNvPr>
          <p:cNvGraphicFramePr>
            <a:graphicFrameLocks noGrp="1"/>
          </p:cNvGraphicFramePr>
          <p:nvPr/>
        </p:nvGraphicFramePr>
        <p:xfrm>
          <a:off x="993075" y="2183722"/>
          <a:ext cx="10205850" cy="4254168"/>
        </p:xfrm>
        <a:graphic>
          <a:graphicData uri="http://schemas.openxmlformats.org/drawingml/2006/table">
            <a:tbl>
              <a:tblPr/>
              <a:tblGrid>
                <a:gridCol w="1020585">
                  <a:extLst>
                    <a:ext uri="{9D8B030D-6E8A-4147-A177-3AD203B41FA5}">
                      <a16:colId xmlns:a16="http://schemas.microsoft.com/office/drawing/2014/main" val="2290949634"/>
                    </a:ext>
                  </a:extLst>
                </a:gridCol>
                <a:gridCol w="527659">
                  <a:extLst>
                    <a:ext uri="{9D8B030D-6E8A-4147-A177-3AD203B41FA5}">
                      <a16:colId xmlns:a16="http://schemas.microsoft.com/office/drawing/2014/main" val="2967678813"/>
                    </a:ext>
                  </a:extLst>
                </a:gridCol>
                <a:gridCol w="1021278">
                  <a:extLst>
                    <a:ext uri="{9D8B030D-6E8A-4147-A177-3AD203B41FA5}">
                      <a16:colId xmlns:a16="http://schemas.microsoft.com/office/drawing/2014/main" val="4280946400"/>
                    </a:ext>
                  </a:extLst>
                </a:gridCol>
                <a:gridCol w="1128156">
                  <a:extLst>
                    <a:ext uri="{9D8B030D-6E8A-4147-A177-3AD203B41FA5}">
                      <a16:colId xmlns:a16="http://schemas.microsoft.com/office/drawing/2014/main" val="1080306545"/>
                    </a:ext>
                  </a:extLst>
                </a:gridCol>
                <a:gridCol w="1258785">
                  <a:extLst>
                    <a:ext uri="{9D8B030D-6E8A-4147-A177-3AD203B41FA5}">
                      <a16:colId xmlns:a16="http://schemas.microsoft.com/office/drawing/2014/main" val="1043814149"/>
                    </a:ext>
                  </a:extLst>
                </a:gridCol>
                <a:gridCol w="1167047">
                  <a:extLst>
                    <a:ext uri="{9D8B030D-6E8A-4147-A177-3AD203B41FA5}">
                      <a16:colId xmlns:a16="http://schemas.microsoft.com/office/drawing/2014/main" val="344216379"/>
                    </a:ext>
                  </a:extLst>
                </a:gridCol>
                <a:gridCol w="1020585">
                  <a:extLst>
                    <a:ext uri="{9D8B030D-6E8A-4147-A177-3AD203B41FA5}">
                      <a16:colId xmlns:a16="http://schemas.microsoft.com/office/drawing/2014/main" val="3875468990"/>
                    </a:ext>
                  </a:extLst>
                </a:gridCol>
                <a:gridCol w="1020585">
                  <a:extLst>
                    <a:ext uri="{9D8B030D-6E8A-4147-A177-3AD203B41FA5}">
                      <a16:colId xmlns:a16="http://schemas.microsoft.com/office/drawing/2014/main" val="591565642"/>
                    </a:ext>
                  </a:extLst>
                </a:gridCol>
                <a:gridCol w="1020585">
                  <a:extLst>
                    <a:ext uri="{9D8B030D-6E8A-4147-A177-3AD203B41FA5}">
                      <a16:colId xmlns:a16="http://schemas.microsoft.com/office/drawing/2014/main" val="265075814"/>
                    </a:ext>
                  </a:extLst>
                </a:gridCol>
                <a:gridCol w="1020585">
                  <a:extLst>
                    <a:ext uri="{9D8B030D-6E8A-4147-A177-3AD203B41FA5}">
                      <a16:colId xmlns:a16="http://schemas.microsoft.com/office/drawing/2014/main" val="931967604"/>
                    </a:ext>
                  </a:extLst>
                </a:gridCol>
              </a:tblGrid>
              <a:tr h="419121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Target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FAULT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FAULT_ADDR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FAULT_INSTR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FAULT_COUNT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FAULT_REPEAT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 dirty="0">
                          <a:effectLst/>
                        </a:rPr>
                        <a:t>mem[32812][31:0]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>
                          <a:effectLst/>
                        </a:rPr>
                        <a:t>mem[32813][31:0]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>
                          <a:effectLst/>
                        </a:rPr>
                        <a:t>mem[32814][31:0]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b="1">
                          <a:effectLst/>
                        </a:rPr>
                        <a:t>mem[32815][31:0]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096712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/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092472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0, Col 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0x2728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0xfe040023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0x80c3505f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0x57142092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0x4022c8b3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0x1acdd73a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218044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1, Col 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0x2758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0xfe0400a3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dirty="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0x5bc3505f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0x57142047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0x4022c7b3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0x1a4ed73a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558036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2, Col 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0x2788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0xfe040123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0xfac3505f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0x571420e1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0x402221b3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0x1a81d73a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45651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3, Col 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0x27b8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0xfe0401a3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0x8dc3505f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0x5714204d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0x40224db3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0x1a6bd73a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430353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4, Col 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0x2734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0xfe040223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0x2930505f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0x0e1420f6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0x4022996e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0x1a02703a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269455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5, Col 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0x2764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0xfe0402a3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0x2959505f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0x5d1420f6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0x40229985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0x1a02df3a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320145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6, Col 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0x2794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0xfe040323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0x294c505f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0xf31420f6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0x40229953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0x1a02bf3a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409785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7, Col 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0x27c4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0xfe0403a3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0x29e7505f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0x691420f6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0x40229940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0x1a02f53a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47499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8, Col 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0x2740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0xfe040423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0x29c3055f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0x573320f6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0xbb2299b3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0x1a02d7a2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82171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9, Col 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0x2770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0xfe0404a3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0x29c3275f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0x573d20f6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0x162299b3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0x1a02d795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897481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10, Col 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0x27a0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0xfe040523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0x29c32f5f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0x57f320f6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0x632299b3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0x1a02d733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57520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11, Col 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0x27d0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0xfe0405a3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0x29c3345f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0x571620f6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0xef2299b3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0x1a02d71f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496241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12, Col 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0x274c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0xfe040623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0x29c35070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0x5714a4f6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0x400799b3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0x9302d73a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926351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13, Col 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0x277c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0xfe0406a3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0x29c350b6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0x571452f6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0x40ae99b3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0xbb02d73a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202178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14, Col 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0x27ac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0xfe040723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0x29c35062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0x57147ff6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0x405899b3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0x9d02d73a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451515"/>
                  </a:ext>
                </a:extLst>
              </a:tr>
              <a:tr h="223168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Byte 15, Col 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0x27dc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0xfe0407a3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>
                          <a:effectLst/>
                        </a:rPr>
                        <a:t>0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0x29c35058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0x5714caf6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>
                          <a:effectLst/>
                        </a:rPr>
                        <a:t>0x408a99b3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dirty="0">
                          <a:effectLst/>
                        </a:rPr>
                        <a:t>0xa702d73a</a:t>
                      </a:r>
                    </a:p>
                  </a:txBody>
                  <a:tcPr marL="20412" marR="20412" marT="13608" marB="1360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784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C676A9-1092-C2A7-48E3-E98025581711}"/>
              </a:ext>
            </a:extLst>
          </p:cNvPr>
          <p:cNvSpPr txBox="1"/>
          <p:nvPr/>
        </p:nvSpPr>
        <p:spPr>
          <a:xfrm>
            <a:off x="993075" y="1690688"/>
            <a:ext cx="549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Locate Injection Points In Simulation &amp; Inject Faults</a:t>
            </a:r>
          </a:p>
        </p:txBody>
      </p:sp>
    </p:spTree>
    <p:extLst>
      <p:ext uri="{BB962C8B-B14F-4D97-AF65-F5344CB8AC3E}">
        <p14:creationId xmlns:p14="http://schemas.microsoft.com/office/powerpoint/2010/main" val="69599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26F7-A0C2-136C-25B7-65A77ADB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8F9F-429C-814D-D118-C02FE703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Breaking AES</a:t>
            </a:r>
          </a:p>
        </p:txBody>
      </p:sp>
      <p:pic>
        <p:nvPicPr>
          <p:cNvPr id="13" name="Picture 12" descr="A group of numbers and letters&#10;&#10;AI-generated content may be incorrect.">
            <a:extLst>
              <a:ext uri="{FF2B5EF4-FFF2-40B4-BE49-F238E27FC236}">
                <a16:creationId xmlns:a16="http://schemas.microsoft.com/office/drawing/2014/main" id="{0B661EFD-CFF4-19DD-28AB-BCDA797E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789049" y="2757250"/>
            <a:ext cx="3759200" cy="1327150"/>
          </a:xfrm>
          <a:prstGeom prst="rect">
            <a:avLst/>
          </a:prstGeom>
        </p:spPr>
      </p:pic>
      <p:pic>
        <p:nvPicPr>
          <p:cNvPr id="17" name="Picture 16" descr="A group of numbers and letters&#10;&#10;AI-generated content may be incorrect.">
            <a:extLst>
              <a:ext uri="{FF2B5EF4-FFF2-40B4-BE49-F238E27FC236}">
                <a16:creationId xmlns:a16="http://schemas.microsoft.com/office/drawing/2014/main" id="{A2C342DF-CC76-B5E6-F96D-037FB2CD7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60"/>
          <a:stretch/>
        </p:blipFill>
        <p:spPr>
          <a:xfrm>
            <a:off x="6963889" y="2758044"/>
            <a:ext cx="3759200" cy="1325563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412222D-E0D9-A721-C7D2-984564565B49}"/>
              </a:ext>
            </a:extLst>
          </p:cNvPr>
          <p:cNvSpPr/>
          <p:nvPr/>
        </p:nvSpPr>
        <p:spPr>
          <a:xfrm>
            <a:off x="5112327" y="2817787"/>
            <a:ext cx="1287484" cy="1206077"/>
          </a:xfrm>
          <a:prstGeom prst="round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Python Script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52B5BE-A953-FC16-340C-69187D623F30}"/>
              </a:ext>
            </a:extLst>
          </p:cNvPr>
          <p:cNvCxnSpPr>
            <a:stCxn id="13" idx="3"/>
            <a:endCxn id="18" idx="1"/>
          </p:cNvCxnSpPr>
          <p:nvPr/>
        </p:nvCxnSpPr>
        <p:spPr>
          <a:xfrm>
            <a:off x="4548249" y="3420825"/>
            <a:ext cx="564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86D3BC-88A3-1880-B862-9DD061C19A5F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>
            <a:off x="6399811" y="3420826"/>
            <a:ext cx="5640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4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8123-0D5E-607D-3182-F838250A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9BDB-773A-54E7-65D7-29DAC298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jump and link based faults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78801A-8D8B-8EA0-C784-92FA42B5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Memory Scanning</a:t>
            </a:r>
            <a:r>
              <a:rPr lang="en-US" sz="2400" dirty="0"/>
              <a:t>: search memory for a zero-filled region large enough to hold the custom payload plus a return jump.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b="1" dirty="0"/>
              <a:t>Payload Insertion</a:t>
            </a:r>
            <a:r>
              <a:rPr lang="en-US" sz="2400" dirty="0"/>
              <a:t>: writes the user-supplied instruction sequence into this identified region.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b="1" dirty="0"/>
              <a:t>Return Linkage</a:t>
            </a:r>
            <a:r>
              <a:rPr lang="en-US" sz="2400" dirty="0"/>
              <a:t>: appends a </a:t>
            </a:r>
            <a:r>
              <a:rPr lang="en-US" sz="2400" i="1" dirty="0" err="1"/>
              <a:t>jal</a:t>
            </a:r>
            <a:r>
              <a:rPr lang="en-US" sz="2400" dirty="0"/>
              <a:t> instruction to the payload, pointing back to </a:t>
            </a:r>
            <a:r>
              <a:rPr lang="en-US" sz="2400" i="1" dirty="0"/>
              <a:t>FAULT_ADDR + 4</a:t>
            </a:r>
            <a:r>
              <a:rPr lang="en-US" sz="2400" dirty="0"/>
              <a:t> to ensure execution resumes immediately after the injected fault without corrupting the core's return address register. 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b="1" dirty="0"/>
              <a:t>Redirection</a:t>
            </a:r>
            <a:r>
              <a:rPr lang="en-US" sz="2400" dirty="0"/>
              <a:t>: script generates a </a:t>
            </a:r>
            <a:r>
              <a:rPr lang="en-US" sz="2400" i="1" dirty="0" err="1"/>
              <a:t>jal</a:t>
            </a:r>
            <a:r>
              <a:rPr lang="en-US" sz="2400" dirty="0"/>
              <a:t> instruction targeting the new payload.</a:t>
            </a:r>
          </a:p>
        </p:txBody>
      </p:sp>
    </p:spTree>
    <p:extLst>
      <p:ext uri="{BB962C8B-B14F-4D97-AF65-F5344CB8AC3E}">
        <p14:creationId xmlns:p14="http://schemas.microsoft.com/office/powerpoint/2010/main" val="1014153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0B0A-C50F-7B22-1340-6756A0AB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C85D-0DD8-B023-1E75-8C4CE96B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jump and link based faults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28FB4A-445B-C5A8-65F7-E5154A42F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29000"/>
            <a:ext cx="10515600" cy="1113416"/>
          </a:xfrm>
        </p:spPr>
      </p:pic>
    </p:spTree>
    <p:extLst>
      <p:ext uri="{BB962C8B-B14F-4D97-AF65-F5344CB8AC3E}">
        <p14:creationId xmlns:p14="http://schemas.microsoft.com/office/powerpoint/2010/main" val="10817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5C35-A32B-4C66-2B37-2D295D6B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2C30-8779-28E7-F929-5524401C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DF2E-1E5C-2DFA-5589-DDDCDAC9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Configurable single instruction fault injection achieved.</a:t>
            </a:r>
          </a:p>
          <a:p>
            <a:r>
              <a:rPr lang="en-US" dirty="0"/>
              <a:t>Successful DFA on AES128.</a:t>
            </a:r>
          </a:p>
          <a:p>
            <a:r>
              <a:rPr lang="en-US" dirty="0"/>
              <a:t>JAL-based faults allowing larger fault payloads.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Reflections</a:t>
            </a:r>
            <a:r>
              <a:rPr lang="en-US" dirty="0"/>
              <a:t>:</a:t>
            </a:r>
          </a:p>
          <a:p>
            <a:r>
              <a:rPr lang="en-US" dirty="0"/>
              <a:t>Wrong approach at the start. </a:t>
            </a:r>
          </a:p>
          <a:p>
            <a:r>
              <a:rPr lang="en-US" dirty="0"/>
              <a:t>Did end up learning a lot and this opened me a path to other projects.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560AD-A462-BDB1-6CDB-AB5A1FE6D571}"/>
              </a:ext>
            </a:extLst>
          </p:cNvPr>
          <p:cNvSpPr/>
          <p:nvPr/>
        </p:nvSpPr>
        <p:spPr>
          <a:xfrm>
            <a:off x="11146220" y="0"/>
            <a:ext cx="1045779" cy="6858000"/>
          </a:xfrm>
          <a:prstGeom prst="rect">
            <a:avLst/>
          </a:prstGeom>
          <a:solidFill>
            <a:srgbClr val="04A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1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855</Words>
  <Application>Microsoft Macintosh PowerPoint</Application>
  <PresentationFormat>Widescreen</PresentationFormat>
  <Paragraphs>276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Helvetica</vt:lpstr>
      <vt:lpstr>Office Theme</vt:lpstr>
      <vt:lpstr>Fault3r</vt:lpstr>
      <vt:lpstr>Intro &amp; Outline</vt:lpstr>
      <vt:lpstr>Background – The Core</vt:lpstr>
      <vt:lpstr>Background - The Core</vt:lpstr>
      <vt:lpstr>Background - The Core</vt:lpstr>
      <vt:lpstr>Background - AES</vt:lpstr>
      <vt:lpstr>Background – AES DFA Attack</vt:lpstr>
      <vt:lpstr>Fault3r</vt:lpstr>
      <vt:lpstr>Evaluation - Simple Adder</vt:lpstr>
      <vt:lpstr>Evaluation - Breaking AES</vt:lpstr>
      <vt:lpstr>Evaluation - Breaking AES</vt:lpstr>
      <vt:lpstr>Evaluation - jump and link based faults</vt:lpstr>
      <vt:lpstr>Evaluation - jump and link based faults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Cajot</dc:creator>
  <cp:lastModifiedBy>Tom Cajot</cp:lastModifiedBy>
  <cp:revision>5</cp:revision>
  <dcterms:created xsi:type="dcterms:W3CDTF">2026-05-10T11:16:34Z</dcterms:created>
  <dcterms:modified xsi:type="dcterms:W3CDTF">2026-05-10T13:57:45Z</dcterms:modified>
</cp:coreProperties>
</file>